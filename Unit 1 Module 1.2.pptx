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9" r:id="rId5"/>
    <p:sldId id="270" r:id="rId6"/>
    <p:sldId id="258" r:id="rId7"/>
    <p:sldId id="271" r:id="rId8"/>
    <p:sldId id="272" r:id="rId9"/>
    <p:sldId id="260" r:id="rId10"/>
    <p:sldId id="273" r:id="rId11"/>
    <p:sldId id="274" r:id="rId12"/>
    <p:sldId id="275" r:id="rId13"/>
    <p:sldId id="276" r:id="rId14"/>
    <p:sldId id="262" r:id="rId15"/>
    <p:sldId id="277" r:id="rId17"/>
    <p:sldId id="278" r:id="rId18"/>
    <p:sldId id="2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83C0"/>
    <a:srgbClr val="E9B115"/>
    <a:srgbClr val="284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6348D-CBF3-45CE-AC51-769C2203D1B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8E36A-D260-42E8-AE69-589A167AF4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9DB85-5EE8-4E80-AD27-8C22B74789B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5F5E-5CC4-48A2-94FE-FDC3CB0B79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928670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A83C0"/>
                </a:solidFill>
              </a:rPr>
              <a:t>Python </a:t>
            </a:r>
            <a:r>
              <a:rPr lang="en-US" b="1" dirty="0" smtClean="0">
                <a:solidFill>
                  <a:srgbClr val="E9B115"/>
                </a:solidFill>
              </a:rPr>
              <a:t>Basics</a:t>
            </a:r>
            <a:endParaRPr lang="en-US" b="1" dirty="0"/>
          </a:p>
        </p:txBody>
      </p:sp>
      <p:sp>
        <p:nvSpPr>
          <p:cNvPr id="1026" name="AutoShape 2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28" name="AutoShape 4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29" name="Picture 5" descr="C:\Users\Exam\Downloads\download (2)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428992" y="2786058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2845A2"/>
                </a:solidFill>
              </a:rPr>
              <a:t>Content</a:t>
            </a:r>
            <a:endParaRPr lang="en-US" sz="3600" b="1" dirty="0">
              <a:solidFill>
                <a:srgbClr val="2845A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Comments in Python</a:t>
            </a:r>
            <a:endParaRPr lang="en-US" dirty="0" smtClean="0"/>
          </a:p>
          <a:p>
            <a:r>
              <a:rPr lang="en-US" dirty="0" smtClean="0"/>
              <a:t>Variable Declaration in Python</a:t>
            </a:r>
            <a:endParaRPr lang="en-US" dirty="0" smtClean="0"/>
          </a:p>
          <a:p>
            <a:r>
              <a:rPr lang="en-US" dirty="0" smtClean="0"/>
              <a:t>Data Types in Python</a:t>
            </a:r>
            <a:endParaRPr lang="en-US" dirty="0" smtClean="0"/>
          </a:p>
          <a:p>
            <a:r>
              <a:rPr lang="en-US" dirty="0" smtClean="0"/>
              <a:t>Type Conversion in </a:t>
            </a:r>
            <a:r>
              <a:rPr lang="en-US" dirty="0" smtClean="0"/>
              <a:t>Python</a:t>
            </a:r>
            <a:endParaRPr lang="en-US" dirty="0" smtClean="0"/>
          </a:p>
          <a:p>
            <a:r>
              <a:rPr lang="en-US" dirty="0" smtClean="0"/>
              <a:t>Operators </a:t>
            </a:r>
            <a:r>
              <a:rPr lang="en-US" dirty="0" smtClean="0"/>
              <a:t>in Python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Comments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 smtClean="0"/>
              <a:t>In general, Comments are used in a programming language to describe the program or to hide the some part of code from the interpreter.</a:t>
            </a:r>
            <a:endParaRPr lang="en-US" sz="2400" dirty="0" smtClean="0"/>
          </a:p>
          <a:p>
            <a:pPr algn="just">
              <a:buNone/>
            </a:pPr>
            <a:endParaRPr lang="en-US" sz="2800" dirty="0" smtClean="0"/>
          </a:p>
          <a:p>
            <a:pPr algn="just"/>
            <a:r>
              <a:rPr lang="en-US" sz="2400" dirty="0" smtClean="0"/>
              <a:t>Comments in Python can be used to explain any program code. It can also be used to hide the code as well.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Comment is not a part of the program, but it enhances the interactivity of the program and makes the program readable.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Python supports two types of comments:</a:t>
            </a:r>
            <a:endParaRPr lang="en-US" sz="2400" dirty="0" smtClean="0"/>
          </a:p>
          <a:p>
            <a:r>
              <a:rPr lang="en-US" sz="2400" dirty="0" smtClean="0"/>
              <a:t>Single Line Comment</a:t>
            </a:r>
            <a:endParaRPr lang="en-US" sz="2400" dirty="0" smtClean="0"/>
          </a:p>
          <a:p>
            <a:r>
              <a:rPr lang="en-US" sz="2400" dirty="0" smtClean="0"/>
              <a:t>Multi Line Comment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 Comments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              </a:t>
            </a:r>
            <a:r>
              <a:rPr lang="en-US" sz="2000" b="1" dirty="0" smtClean="0"/>
              <a:t>Cont..</a:t>
            </a:r>
            <a:endParaRPr lang="en-US" sz="20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4282" y="1000109"/>
            <a:ext cx="8715436" cy="26930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2845A2"/>
                </a:solidFill>
              </a:rPr>
              <a:t>Single Line Comment:</a:t>
            </a:r>
            <a:endParaRPr lang="en-US" sz="2200" dirty="0" smtClean="0">
              <a:solidFill>
                <a:srgbClr val="2845A2"/>
              </a:solidFill>
            </a:endParaRPr>
          </a:p>
          <a:p>
            <a:pPr>
              <a:buNone/>
            </a:pPr>
            <a:r>
              <a:rPr lang="en-US" sz="2100" dirty="0" smtClean="0"/>
              <a:t>In case user wants to specify a single line comment, then comment must start with </a:t>
            </a:r>
            <a:r>
              <a:rPr lang="en-US" sz="2100" b="1" dirty="0" smtClean="0">
                <a:solidFill>
                  <a:srgbClr val="0A83C0"/>
                </a:solidFill>
              </a:rPr>
              <a:t>‘#’</a:t>
            </a:r>
            <a:endParaRPr lang="en-US" sz="2100" b="1" dirty="0" smtClean="0">
              <a:solidFill>
                <a:srgbClr val="0A83C0"/>
              </a:solidFill>
            </a:endParaRPr>
          </a:p>
          <a:p>
            <a:pPr>
              <a:buNone/>
            </a:pPr>
            <a:r>
              <a:rPr lang="en-US" sz="2100" b="1" dirty="0" smtClean="0"/>
              <a:t>Example:</a:t>
            </a:r>
            <a:endParaRPr lang="en-US" sz="2100" dirty="0" smtClean="0"/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# This is single line comment </a:t>
            </a:r>
            <a:endParaRPr lang="en-US" sz="2100" dirty="0" smtClean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100" dirty="0" smtClean="0"/>
              <a:t>print "Hello Python"  </a:t>
            </a:r>
            <a:endParaRPr lang="en-US" sz="2100" dirty="0" smtClean="0"/>
          </a:p>
          <a:p>
            <a:pPr>
              <a:buNone/>
            </a:pPr>
            <a:r>
              <a:rPr lang="en-US" sz="2100" b="1" dirty="0" smtClean="0"/>
              <a:t>Output:</a:t>
            </a:r>
            <a:endParaRPr lang="en-US" sz="2100" dirty="0" smtClean="0"/>
          </a:p>
          <a:p>
            <a:pPr>
              <a:buNone/>
            </a:pPr>
            <a:r>
              <a:rPr lang="en-US" sz="2100" dirty="0" smtClean="0"/>
              <a:t>Hello Python</a:t>
            </a:r>
            <a:endParaRPr lang="en-US" sz="2100" dirty="0"/>
          </a:p>
        </p:txBody>
      </p:sp>
      <p:sp>
        <p:nvSpPr>
          <p:cNvPr id="8" name="TextBox 7"/>
          <p:cNvSpPr txBox="1"/>
          <p:nvPr/>
        </p:nvSpPr>
        <p:spPr>
          <a:xfrm>
            <a:off x="214282" y="3786191"/>
            <a:ext cx="8715436" cy="30162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2845A2"/>
                </a:solidFill>
              </a:rPr>
              <a:t>Multi Line Comment:</a:t>
            </a:r>
            <a:endParaRPr lang="en-US" sz="2200" dirty="0" smtClean="0">
              <a:solidFill>
                <a:srgbClr val="2845A2"/>
              </a:solidFill>
            </a:endParaRPr>
          </a:p>
          <a:p>
            <a:pPr>
              <a:buNone/>
            </a:pPr>
            <a:r>
              <a:rPr lang="en-US" sz="2100" dirty="0" smtClean="0"/>
              <a:t>Multi lined comment can be given inside triple quotes.</a:t>
            </a:r>
            <a:endParaRPr lang="en-US" sz="2100" dirty="0" smtClean="0"/>
          </a:p>
          <a:p>
            <a:pPr>
              <a:buNone/>
            </a:pPr>
            <a:r>
              <a:rPr lang="en-US" sz="2100" b="1" dirty="0" smtClean="0"/>
              <a:t>Example: </a:t>
            </a:r>
            <a:endParaRPr lang="en-US" sz="2100" b="1" dirty="0" smtClean="0"/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'''This is </a:t>
            </a:r>
            <a:endParaRPr lang="en-US" sz="2100" dirty="0" smtClean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    Multiline </a:t>
            </a:r>
            <a:endParaRPr lang="en-US" sz="2100" dirty="0" smtClean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    Comment'''  </a:t>
            </a:r>
            <a:endParaRPr lang="en-US" sz="2100" dirty="0" smtClean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100" dirty="0" smtClean="0"/>
              <a:t>print "Hello Python"  </a:t>
            </a:r>
            <a:endParaRPr lang="en-US" sz="2100" dirty="0" smtClean="0"/>
          </a:p>
          <a:p>
            <a:pPr>
              <a:buNone/>
            </a:pPr>
            <a:r>
              <a:rPr lang="en-US" sz="2100" b="1" dirty="0" smtClean="0"/>
              <a:t>Output:</a:t>
            </a:r>
            <a:endParaRPr lang="en-US" sz="2100" dirty="0" smtClean="0"/>
          </a:p>
          <a:p>
            <a:pPr>
              <a:buNone/>
            </a:pPr>
            <a:r>
              <a:rPr lang="en-US" sz="2100" dirty="0" smtClean="0"/>
              <a:t>Hello Python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Variable Declaration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00108"/>
            <a:ext cx="8229600" cy="550072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variable is a named memory location in which we can store values for the particular program.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In other words, Variable is a name which is used to refer memory location. Variable also known as identifier and used to hold value.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In Python, We don't need to declare explicitly variable in Python. When we assign any value to the variable that variable is declared automatically.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In Python, We don't need to specify the type of variable because Python is a loosely typed language.</a:t>
            </a: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Variable Declaration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5400" b="1" dirty="0" smtClean="0">
                <a:solidFill>
                  <a:srgbClr val="0A83C0"/>
                </a:solidFill>
              </a:rPr>
              <a:t>          </a:t>
            </a:r>
            <a:r>
              <a:rPr lang="en-US" sz="2000" b="1" dirty="0" smtClean="0"/>
              <a:t>Cont..</a:t>
            </a:r>
            <a:r>
              <a:rPr lang="en-US" sz="2000" b="1" dirty="0" smtClean="0">
                <a:solidFill>
                  <a:srgbClr val="0A83C0"/>
                </a:solidFill>
              </a:rPr>
              <a:t> 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571504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In loosely typed language no need to specify the type of variable because the variable automatically changes it's data type based on assigned value.</a:t>
            </a:r>
            <a:endParaRPr lang="en-US" sz="2400" dirty="0" smtClean="0"/>
          </a:p>
          <a:p>
            <a:pPr>
              <a:buNone/>
            </a:pPr>
            <a:r>
              <a:rPr lang="en-US" sz="2600" b="1" dirty="0" smtClean="0"/>
              <a:t>Rules for naming variable:</a:t>
            </a:r>
            <a:endParaRPr lang="en-US" sz="2600" dirty="0" smtClean="0"/>
          </a:p>
          <a:p>
            <a:r>
              <a:rPr lang="en-US" sz="2400" dirty="0" smtClean="0"/>
              <a:t>Variable names can be a group of both letters and digits, but they have to begin with a letter or an underscore.</a:t>
            </a:r>
            <a:endParaRPr lang="en-US" sz="2400" dirty="0" smtClean="0"/>
          </a:p>
          <a:p>
            <a:r>
              <a:rPr lang="en-US" sz="2400" dirty="0" smtClean="0"/>
              <a:t>It is recommended to use lowercase letters for variable name. ‘SUM’ and ‘sum’ both are two different variables.</a:t>
            </a:r>
            <a:endParaRPr lang="en-US" sz="2400" dirty="0" smtClean="0"/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endParaRPr lang="en-US" sz="2600" b="1" dirty="0" smtClean="0"/>
          </a:p>
          <a:p>
            <a:pPr>
              <a:buNone/>
            </a:pP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4348" y="4286256"/>
            <a:ext cx="342902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/>
              <a:t>Example: </a:t>
            </a:r>
            <a:r>
              <a:rPr lang="en-US" sz="2200" b="1" dirty="0" smtClean="0">
                <a:solidFill>
                  <a:srgbClr val="0070C0"/>
                </a:solidFill>
              </a:rPr>
              <a:t>Vardemo.py</a:t>
            </a:r>
            <a:endParaRPr lang="en-US" sz="2200" b="1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200" dirty="0" smtClean="0"/>
              <a:t>a=10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</a:rPr>
              <a:t>#integer </a:t>
            </a:r>
            <a:endParaRPr lang="en-US" sz="2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200" dirty="0" smtClean="0"/>
              <a:t>b="</a:t>
            </a:r>
            <a:r>
              <a:rPr lang="en-US" sz="2200" dirty="0" err="1" smtClean="0"/>
              <a:t>StudyGlance</a:t>
            </a:r>
            <a:r>
              <a:rPr lang="en-US" sz="2200" dirty="0" smtClean="0"/>
              <a:t>"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</a:rPr>
              <a:t>#string </a:t>
            </a:r>
            <a:endParaRPr lang="en-US" sz="2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200" dirty="0" smtClean="0"/>
              <a:t>c=12.5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</a:rPr>
              <a:t>#float </a:t>
            </a:r>
            <a:endParaRPr lang="en-US" sz="2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200" dirty="0" smtClean="0"/>
              <a:t>print(a) 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print(b) 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print(c)</a:t>
            </a:r>
            <a:endParaRPr lang="en-US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5500694" y="4572008"/>
            <a:ext cx="278961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200" b="1" dirty="0" smtClean="0"/>
              <a:t>output:</a:t>
            </a:r>
            <a:endParaRPr lang="en-US" sz="2200" dirty="0" smtClean="0"/>
          </a:p>
          <a:p>
            <a:pPr>
              <a:buNone/>
            </a:pPr>
            <a:r>
              <a:rPr lang="en-US" sz="2200" b="1" dirty="0" smtClean="0"/>
              <a:t>$python3 Vardemo.py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10</a:t>
            </a:r>
            <a:endParaRPr lang="en-US" sz="2200" dirty="0" smtClean="0"/>
          </a:p>
          <a:p>
            <a:pPr>
              <a:buNone/>
            </a:pPr>
            <a:r>
              <a:rPr lang="en-US" sz="2200" dirty="0" err="1" smtClean="0"/>
              <a:t>StudyGlance</a:t>
            </a:r>
            <a:r>
              <a:rPr lang="en-US" sz="2200" dirty="0" smtClean="0"/>
              <a:t> 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12.5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Variable Declaration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5400" b="1" dirty="0" smtClean="0">
                <a:solidFill>
                  <a:srgbClr val="0A83C0"/>
                </a:solidFill>
              </a:rPr>
              <a:t>          </a:t>
            </a:r>
            <a:r>
              <a:rPr lang="en-US" sz="2000" b="1" dirty="0" smtClean="0"/>
              <a:t>Cont..</a:t>
            </a:r>
            <a:r>
              <a:rPr lang="en-US" sz="2000" b="1" dirty="0" smtClean="0">
                <a:solidFill>
                  <a:srgbClr val="0A83C0"/>
                </a:solidFill>
              </a:rPr>
              <a:t> 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571504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Python allows us to assign a value to multiple variables and multiple values to multiple variables in a single statement which is also known as multiple assignment.</a:t>
            </a:r>
            <a:endParaRPr lang="en-US" sz="2400" dirty="0" smtClean="0"/>
          </a:p>
          <a:p>
            <a:pPr algn="just"/>
            <a:r>
              <a:rPr lang="en-US" sz="2000" b="1" dirty="0" smtClean="0"/>
              <a:t>Assign single value to multiple variables :</a:t>
            </a:r>
            <a:endParaRPr lang="en-US" sz="2000" b="1" dirty="0" smtClean="0"/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endParaRPr lang="en-US" sz="2200" b="1" dirty="0" smtClean="0"/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endParaRPr lang="en-US" sz="2000" b="1" dirty="0" smtClean="0"/>
          </a:p>
          <a:p>
            <a:r>
              <a:rPr lang="en-US" sz="2000" b="1" dirty="0" smtClean="0"/>
              <a:t>Assign multiple values to multiple variables :</a:t>
            </a:r>
            <a:endParaRPr lang="en-US" sz="2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4348" y="2500306"/>
            <a:ext cx="342902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Example:</a:t>
            </a:r>
            <a:r>
              <a:rPr lang="en-US" sz="2200" b="1" dirty="0" smtClean="0"/>
              <a:t> </a:t>
            </a:r>
            <a:r>
              <a:rPr lang="en-US" sz="2200" b="1" dirty="0" smtClean="0">
                <a:solidFill>
                  <a:srgbClr val="0070C0"/>
                </a:solidFill>
              </a:rPr>
              <a:t>Vardemo1.py</a:t>
            </a:r>
            <a:endParaRPr lang="en-US" sz="2200" b="1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400" dirty="0" smtClean="0"/>
              <a:t>x=y=z=50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 x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 y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 z </a:t>
            </a:r>
            <a:endParaRPr lang="en-US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4714876" y="2571744"/>
            <a:ext cx="293227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output:</a:t>
            </a:r>
            <a:endParaRPr lang="en-US" sz="2200" dirty="0" smtClean="0">
              <a:solidFill>
                <a:srgbClr val="E9B115"/>
              </a:solidFill>
            </a:endParaRPr>
          </a:p>
          <a:p>
            <a:pPr>
              <a:buNone/>
            </a:pPr>
            <a:r>
              <a:rPr lang="en-US" sz="2200" b="1" dirty="0" smtClean="0"/>
              <a:t>$python3 Vardemo1.py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50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50 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50</a:t>
            </a:r>
            <a:endParaRPr lang="en-US" sz="22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85786" y="4786322"/>
            <a:ext cx="342902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Example:</a:t>
            </a:r>
            <a:r>
              <a:rPr lang="en-US" sz="2200" b="1" dirty="0" smtClean="0"/>
              <a:t> </a:t>
            </a:r>
            <a:r>
              <a:rPr lang="en-US" sz="2200" b="1" dirty="0" smtClean="0">
                <a:solidFill>
                  <a:srgbClr val="0070C0"/>
                </a:solidFill>
              </a:rPr>
              <a:t>Vardemo2.py</a:t>
            </a:r>
            <a:endParaRPr lang="en-US" sz="2200" b="1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400" dirty="0" err="1" smtClean="0"/>
              <a:t>a,b,c</a:t>
            </a:r>
            <a:r>
              <a:rPr lang="en-US" sz="2400" dirty="0" smtClean="0"/>
              <a:t>=5,10,15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 a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 b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 c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4786314" y="4857760"/>
            <a:ext cx="293227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output:</a:t>
            </a:r>
            <a:endParaRPr lang="en-US" sz="2200" dirty="0" smtClean="0">
              <a:solidFill>
                <a:srgbClr val="E9B115"/>
              </a:solidFill>
            </a:endParaRPr>
          </a:p>
          <a:p>
            <a:pPr>
              <a:buNone/>
            </a:pPr>
            <a:r>
              <a:rPr lang="en-US" sz="2200" b="1" dirty="0" smtClean="0"/>
              <a:t>$python3 Vardemo2.py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5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10 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15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A83C0"/>
                </a:solidFill>
              </a:rPr>
              <a:t>	</a:t>
            </a:r>
            <a:r>
              <a:rPr lang="en-US" sz="3600" b="1" dirty="0" smtClean="0">
                <a:solidFill>
                  <a:srgbClr val="E9B115"/>
                </a:solidFill>
              </a:rPr>
              <a:t>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In general, Data Types specifies what type of data will be stored in variables. Variables can hold values of different data types. 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Python is a dynamically typed or loosely typed language, hence we need not define the type of the variable while declaring it.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interpreter implicitly binds the value with its type.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r>
              <a:rPr lang="en-US" sz="2400" dirty="0" smtClean="0"/>
              <a:t>Python provides us the </a:t>
            </a:r>
            <a:r>
              <a:rPr lang="en-US" sz="2400" b="1" dirty="0" smtClean="0"/>
              <a:t>type ()</a:t>
            </a:r>
            <a:r>
              <a:rPr lang="en-US" sz="2400" dirty="0" smtClean="0"/>
              <a:t> function which enables us to check the type of the variable.</a:t>
            </a: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71546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A83C0"/>
                </a:solidFill>
              </a:rPr>
              <a:t>	       </a:t>
            </a:r>
            <a:r>
              <a:rPr lang="en-US" sz="3600" b="1" dirty="0" smtClean="0">
                <a:solidFill>
                  <a:srgbClr val="E9B115"/>
                </a:solidFill>
              </a:rPr>
              <a:t>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18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643998" cy="535785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Python provides following </a:t>
            </a:r>
            <a:r>
              <a:rPr lang="en-US" sz="2400" b="1" dirty="0" smtClean="0"/>
              <a:t>standard data types</a:t>
            </a:r>
            <a:r>
              <a:rPr lang="en-US" sz="2400" dirty="0" smtClean="0"/>
              <a:t>, those are</a:t>
            </a:r>
            <a:endParaRPr lang="en-US" sz="2400" b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b="1" dirty="0" smtClean="0"/>
              <a:t>Numbers</a:t>
            </a:r>
            <a:endParaRPr lang="en-US" sz="2400" b="1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b="1" dirty="0" smtClean="0"/>
              <a:t>String</a:t>
            </a: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Numbers:</a:t>
            </a:r>
            <a:endParaRPr lang="en-US" sz="2400" b="1" dirty="0" smtClean="0"/>
          </a:p>
          <a:p>
            <a:r>
              <a:rPr lang="en-US" sz="2400" dirty="0" smtClean="0"/>
              <a:t>Number stores numeric values. Python creates Number type variable when a number is assigned to a variable.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There are three numeric types in Python:</a:t>
            </a:r>
            <a:endParaRPr lang="en-US" sz="2400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int</a:t>
            </a:r>
            <a:endParaRPr lang="en-US" sz="2400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float</a:t>
            </a:r>
            <a:endParaRPr lang="en-US" sz="2400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Complex</a:t>
            </a:r>
            <a:endParaRPr lang="en-US" sz="2400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71546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643998" cy="5357850"/>
          </a:xfrm>
        </p:spPr>
        <p:txBody>
          <a:bodyPr>
            <a:normAutofit/>
          </a:bodyPr>
          <a:lstStyle/>
          <a:p>
            <a:pPr marL="857250" lvl="1" indent="-457200"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 </a:t>
            </a:r>
            <a:endParaRPr lang="en-US" sz="2600" dirty="0" smtClean="0"/>
          </a:p>
          <a:p>
            <a:pPr>
              <a:buNone/>
            </a:pPr>
            <a:r>
              <a:rPr lang="en-US" sz="800" dirty="0" smtClean="0"/>
              <a:t> </a:t>
            </a:r>
            <a:endParaRPr lang="en-US" sz="800" dirty="0" smtClean="0"/>
          </a:p>
          <a:p>
            <a:pPr algn="just">
              <a:buNone/>
            </a:pPr>
            <a:endParaRPr lang="en-US" sz="800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71546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2844" y="3071810"/>
            <a:ext cx="5429288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0A83C0"/>
                </a:solidFill>
              </a:rPr>
              <a:t>2. float:</a:t>
            </a:r>
            <a:endParaRPr lang="en-US" sz="2200" dirty="0" smtClean="0">
              <a:solidFill>
                <a:srgbClr val="0A83C0"/>
              </a:solidFill>
            </a:endParaRPr>
          </a:p>
          <a:p>
            <a:r>
              <a:rPr lang="en-US" sz="2400" dirty="0" smtClean="0"/>
              <a:t>Float or "floating point number" is a number, positive or negative, containing one or more decimals.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60085" y="3071495"/>
            <a:ext cx="2955925" cy="17837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200" dirty="0" smtClean="0"/>
              <a:t>X=1.0</a:t>
            </a:r>
            <a:endParaRPr lang="en-US" sz="2200" dirty="0" smtClean="0"/>
          </a:p>
          <a:p>
            <a:r>
              <a:rPr lang="en-US" sz="2200" dirty="0" smtClean="0"/>
              <a:t>Y=12.3</a:t>
            </a:r>
            <a:endParaRPr lang="en-US" sz="2200" dirty="0" smtClean="0"/>
          </a:p>
          <a:p>
            <a:r>
              <a:rPr lang="en-US" sz="2200" dirty="0" smtClean="0"/>
              <a:t>Z=-13.4</a:t>
            </a:r>
            <a:endParaRPr lang="en-US" sz="2200" dirty="0" smtClean="0"/>
          </a:p>
          <a:p>
            <a:endParaRPr lang="en-US" sz="22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42844" y="5072074"/>
            <a:ext cx="5429288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0A83C0"/>
                </a:solidFill>
              </a:rPr>
              <a:t>3. complex:</a:t>
            </a:r>
            <a:endParaRPr lang="en-US" sz="2200" dirty="0" smtClean="0">
              <a:solidFill>
                <a:srgbClr val="0A83C0"/>
              </a:solidFill>
            </a:endParaRPr>
          </a:p>
          <a:p>
            <a:r>
              <a:rPr lang="en-US" sz="2400" dirty="0" smtClean="0"/>
              <a:t>Complex numbers are written with a "j" as the imaginary part.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89930" y="5072380"/>
            <a:ext cx="2926080" cy="14452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pPr>
              <a:buNone/>
            </a:pPr>
            <a:r>
              <a:rPr lang="pl-PL" sz="2200" dirty="0" smtClean="0"/>
              <a:t>A=2+5j</a:t>
            </a:r>
            <a:endParaRPr lang="pl-PL" sz="2200" dirty="0" smtClean="0"/>
          </a:p>
          <a:p>
            <a:pPr>
              <a:buNone/>
            </a:pPr>
            <a:r>
              <a:rPr lang="pl-PL" sz="2200" dirty="0" smtClean="0"/>
              <a:t>B=-3+4j</a:t>
            </a:r>
            <a:endParaRPr lang="pl-PL" sz="2200" dirty="0" smtClean="0"/>
          </a:p>
          <a:p>
            <a:pPr>
              <a:buNone/>
            </a:pPr>
            <a:r>
              <a:rPr lang="pl-PL" sz="2200" dirty="0" smtClean="0"/>
              <a:t>C=-6j</a:t>
            </a:r>
            <a:endParaRPr lang="pl-PL" sz="22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42843" y="1142984"/>
            <a:ext cx="5568501" cy="17235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0A83C0"/>
                </a:solidFill>
              </a:rPr>
              <a:t>1. int:</a:t>
            </a:r>
            <a:endParaRPr lang="en-US" sz="2200" dirty="0" smtClean="0">
              <a:solidFill>
                <a:srgbClr val="0A83C0"/>
              </a:solidFill>
            </a:endParaRPr>
          </a:p>
          <a:p>
            <a:r>
              <a:rPr lang="en-US" sz="2200" dirty="0" smtClean="0"/>
              <a:t>Int, or integer, is a whole number, positive or negative, without decimals, of unlimited length.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57884" y="1142982"/>
            <a:ext cx="2857520" cy="16619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pPr>
              <a:buNone/>
            </a:pPr>
            <a:r>
              <a:rPr lang="en-US" sz="2200" dirty="0" smtClean="0"/>
              <a:t> a=10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b=-12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c=123456789</a:t>
            </a:r>
            <a:endParaRPr lang="en-US" sz="2000" dirty="0" smtClean="0"/>
          </a:p>
          <a:p>
            <a:pPr>
              <a:buNone/>
            </a:pP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29600" cy="64294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571504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sz="2400" b="1" dirty="0" smtClean="0"/>
              <a:t>String:</a:t>
            </a:r>
            <a:endParaRPr lang="en-US" sz="2400" dirty="0" smtClean="0"/>
          </a:p>
          <a:p>
            <a:pPr algn="just"/>
            <a:r>
              <a:rPr lang="en-US" sz="2400" dirty="0" smtClean="0"/>
              <a:t>The string can be defined as the sequence of characters represented in the quotation marks. In python, we can use single, double, or triple quotes to define a string.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the case of string handling, the operator + is used to concatenate two strings as the operation </a:t>
            </a:r>
            <a:r>
              <a:rPr lang="en-US" sz="2400" i="1" dirty="0" smtClean="0"/>
              <a:t>"hello"+" python"</a:t>
            </a:r>
            <a:r>
              <a:rPr lang="en-US" sz="2400" dirty="0" smtClean="0"/>
              <a:t> returns </a:t>
            </a:r>
            <a:r>
              <a:rPr lang="en-US" sz="2400" i="1" dirty="0" smtClean="0"/>
              <a:t>"hello python"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buNone/>
            </a:pPr>
            <a:r>
              <a:rPr lang="en-US" sz="2600" dirty="0" smtClean="0"/>
              <a:t> </a:t>
            </a:r>
            <a:endParaRPr lang="en-US" sz="2600" dirty="0" smtClean="0"/>
          </a:p>
          <a:p>
            <a:pPr>
              <a:buNone/>
            </a:pPr>
            <a:r>
              <a:rPr lang="en-US" sz="800" dirty="0" smtClean="0"/>
              <a:t> </a:t>
            </a:r>
            <a:endParaRPr lang="en-US" sz="800" dirty="0" smtClean="0"/>
          </a:p>
          <a:p>
            <a:pPr algn="just">
              <a:buNone/>
            </a:pPr>
            <a:endParaRPr lang="en-US" sz="800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0100" y="4429132"/>
            <a:ext cx="5857916" cy="15388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dirty="0" smtClean="0"/>
              <a:t>S1=‘Welcome’  </a:t>
            </a: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#using single quotes</a:t>
            </a:r>
            <a:endParaRPr lang="en-US" sz="24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smtClean="0"/>
              <a:t>S2=“To” 	 </a:t>
            </a: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#using double quotes</a:t>
            </a:r>
            <a:endParaRPr lang="en-US" sz="24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smtClean="0"/>
              <a:t>S3=‘’’Python’’’  </a:t>
            </a: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#using triple quotes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29600" cy="64294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8596" y="900714"/>
            <a:ext cx="5857916" cy="3385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200" b="1" dirty="0" smtClean="0">
                <a:solidFill>
                  <a:srgbClr val="FFC000"/>
                </a:solidFill>
              </a:rPr>
              <a:t>	“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datatypesdemo.py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dirty="0" smtClean="0"/>
              <a:t>a=10  </a:t>
            </a:r>
            <a:endParaRPr lang="en-US" sz="2400" dirty="0" smtClean="0"/>
          </a:p>
          <a:p>
            <a:r>
              <a:rPr lang="en-US" sz="2400" dirty="0" smtClean="0"/>
              <a:t>b=“Python"  </a:t>
            </a:r>
            <a:endParaRPr lang="en-US" sz="2400" dirty="0" smtClean="0"/>
          </a:p>
          <a:p>
            <a:r>
              <a:rPr lang="en-US" sz="2400" dirty="0" smtClean="0"/>
              <a:t>c = 10.5</a:t>
            </a:r>
            <a:endParaRPr lang="en-US" sz="2400" dirty="0" smtClean="0"/>
          </a:p>
          <a:p>
            <a:r>
              <a:rPr lang="en-US" sz="2400" dirty="0" smtClean="0"/>
              <a:t>d=2.14j</a:t>
            </a:r>
            <a:endParaRPr lang="en-US" sz="2400" dirty="0" smtClean="0"/>
          </a:p>
          <a:p>
            <a:r>
              <a:rPr lang="en-US" sz="2400" dirty="0" smtClean="0"/>
              <a:t>print("Data type of Variable a :",type(a))   </a:t>
            </a:r>
            <a:endParaRPr lang="en-US" sz="2400" dirty="0" smtClean="0"/>
          </a:p>
          <a:p>
            <a:r>
              <a:rPr lang="en-US" sz="2400" dirty="0" smtClean="0"/>
              <a:t>print("Data type of Variable b :",type(b))   </a:t>
            </a:r>
            <a:endParaRPr lang="en-US" sz="2400" dirty="0" smtClean="0"/>
          </a:p>
          <a:p>
            <a:r>
              <a:rPr lang="en-US" sz="2400" dirty="0" smtClean="0"/>
              <a:t>print("Data type of Variable c :",type(c)) </a:t>
            </a:r>
            <a:endParaRPr lang="en-US" sz="2400" dirty="0" smtClean="0"/>
          </a:p>
          <a:p>
            <a:r>
              <a:rPr lang="en-US" sz="2400" dirty="0" smtClean="0"/>
              <a:t>print("Data type of Variable d :",type(d))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143240" y="4357695"/>
            <a:ext cx="5857916" cy="22775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smtClean="0"/>
              <a:t>python3 datatypesdemo.py </a:t>
            </a:r>
            <a:endParaRPr lang="en-US" sz="2400" dirty="0" smtClean="0"/>
          </a:p>
          <a:p>
            <a:r>
              <a:rPr lang="en-US" sz="2400" b="1" dirty="0" smtClean="0"/>
              <a:t> </a:t>
            </a:r>
            <a:r>
              <a:rPr lang="en-US" sz="2400" dirty="0" err="1" smtClean="0"/>
              <a:t>Datatype</a:t>
            </a:r>
            <a:r>
              <a:rPr lang="en-US" sz="2400" dirty="0" smtClean="0"/>
              <a:t> of Variable a : &lt;class ‘</a:t>
            </a:r>
            <a:r>
              <a:rPr lang="en-US" sz="2400" dirty="0" err="1" smtClean="0"/>
              <a:t>int</a:t>
            </a:r>
            <a:r>
              <a:rPr lang="en-US" sz="2400" dirty="0" smtClean="0"/>
              <a:t>’&gt;</a:t>
            </a:r>
            <a:endParaRPr lang="en-US" sz="2400" dirty="0" smtClean="0"/>
          </a:p>
          <a:p>
            <a:r>
              <a:rPr lang="en-US" sz="2400" dirty="0" err="1" smtClean="0"/>
              <a:t>Datatype</a:t>
            </a:r>
            <a:r>
              <a:rPr lang="en-US" sz="2400" dirty="0" smtClean="0"/>
              <a:t> of Variable b : &lt;class ‘</a:t>
            </a:r>
            <a:r>
              <a:rPr lang="en-US" sz="2400" dirty="0" err="1" smtClean="0"/>
              <a:t>str</a:t>
            </a:r>
            <a:r>
              <a:rPr lang="en-US" sz="2400" dirty="0" smtClean="0"/>
              <a:t>’&gt;</a:t>
            </a:r>
            <a:endParaRPr lang="en-US" sz="2400" dirty="0" smtClean="0"/>
          </a:p>
          <a:p>
            <a:r>
              <a:rPr lang="en-US" sz="2400" dirty="0" err="1" smtClean="0"/>
              <a:t>Datatype</a:t>
            </a:r>
            <a:r>
              <a:rPr lang="en-US" sz="2400" dirty="0" smtClean="0"/>
              <a:t> of Variable c : &lt;class ‘float’&gt;</a:t>
            </a:r>
            <a:endParaRPr lang="en-US" sz="2400" dirty="0" smtClean="0"/>
          </a:p>
          <a:p>
            <a:r>
              <a:rPr lang="en-US" sz="2400" dirty="0" err="1" smtClean="0"/>
              <a:t>Datatype</a:t>
            </a:r>
            <a:r>
              <a:rPr lang="en-US" sz="2400" dirty="0" smtClean="0"/>
              <a:t> of Variable d : &lt;class ‘complex’&gt;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Type Conversion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72560" cy="5357850"/>
          </a:xfrm>
        </p:spPr>
        <p:txBody>
          <a:bodyPr>
            <a:normAutofit/>
          </a:bodyPr>
          <a:lstStyle/>
          <a:p>
            <a:pPr algn="just"/>
            <a:r>
              <a:rPr lang="en-US" sz="2300" dirty="0" smtClean="0"/>
              <a:t>Python provides Explicit type conversion functions to directly convert one data type to another. It is also called as </a:t>
            </a:r>
            <a:r>
              <a:rPr lang="en-US" sz="2300" b="1" dirty="0" smtClean="0"/>
              <a:t>Type Casting</a:t>
            </a:r>
            <a:r>
              <a:rPr lang="en-US" sz="2300" dirty="0" smtClean="0"/>
              <a:t> in Python</a:t>
            </a:r>
            <a:endParaRPr lang="en-US" sz="2300" dirty="0" smtClean="0"/>
          </a:p>
          <a:p>
            <a:r>
              <a:rPr lang="en-US" sz="2300" dirty="0" smtClean="0"/>
              <a:t>Python supports following functions</a:t>
            </a:r>
            <a:endParaRPr lang="en-US" sz="2300" dirty="0" smtClean="0"/>
          </a:p>
          <a:p>
            <a:pPr marL="857250" lvl="1" indent="-457200" fontAlgn="base">
              <a:buFont typeface="+mj-lt"/>
              <a:buAutoNum type="arabicPeriod"/>
            </a:pPr>
            <a:r>
              <a:rPr lang="en-US" sz="2000" b="1" dirty="0" smtClean="0">
                <a:solidFill>
                  <a:srgbClr val="0A83C0"/>
                </a:solidFill>
              </a:rPr>
              <a:t>int ()</a:t>
            </a:r>
            <a:r>
              <a:rPr lang="en-US" sz="2000" dirty="0" smtClean="0">
                <a:solidFill>
                  <a:srgbClr val="0A83C0"/>
                </a:solidFill>
              </a:rPr>
              <a:t> : </a:t>
            </a:r>
            <a:r>
              <a:rPr lang="en-US" sz="2000" dirty="0" smtClean="0"/>
              <a:t>This function converts</a:t>
            </a:r>
            <a:r>
              <a:rPr lang="en-US" sz="2000" b="1" dirty="0" smtClean="0"/>
              <a:t> any data type to integer.</a:t>
            </a:r>
            <a:endParaRPr lang="en-US" sz="2000" dirty="0" smtClean="0"/>
          </a:p>
          <a:p>
            <a:pPr marL="857250" lvl="1" indent="-457200" fontAlgn="base">
              <a:buFont typeface="+mj-lt"/>
              <a:buAutoNum type="arabicPeriod"/>
            </a:pPr>
            <a:r>
              <a:rPr lang="en-US" sz="2000" b="1" dirty="0" smtClean="0">
                <a:solidFill>
                  <a:srgbClr val="0A83C0"/>
                </a:solidFill>
              </a:rPr>
              <a:t>float()</a:t>
            </a:r>
            <a:r>
              <a:rPr lang="en-US" sz="2000" dirty="0" smtClean="0">
                <a:solidFill>
                  <a:srgbClr val="0A83C0"/>
                </a:solidFill>
              </a:rPr>
              <a:t> : </a:t>
            </a:r>
            <a:r>
              <a:rPr lang="en-US" sz="2000" dirty="0" smtClean="0"/>
              <a:t>This function is used to convert </a:t>
            </a:r>
            <a:r>
              <a:rPr lang="en-US" sz="2000" b="1" dirty="0" smtClean="0"/>
              <a:t>any data type to a floating point number.</a:t>
            </a:r>
            <a:endParaRPr lang="en-US" sz="2000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A83C0"/>
                </a:solidFill>
              </a:rPr>
              <a:t>str() </a:t>
            </a:r>
            <a:r>
              <a:rPr lang="en-US" sz="2000" dirty="0" smtClean="0">
                <a:solidFill>
                  <a:srgbClr val="0A83C0"/>
                </a:solidFill>
              </a:rPr>
              <a:t>: </a:t>
            </a:r>
            <a:r>
              <a:rPr lang="en-US" sz="2000" dirty="0" smtClean="0"/>
              <a:t>This function is used to convert </a:t>
            </a:r>
            <a:r>
              <a:rPr lang="en-US" sz="2000" b="1" dirty="0" smtClean="0"/>
              <a:t>any data type to a string. </a:t>
            </a:r>
            <a:endParaRPr lang="en-US" sz="2000" b="1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867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7158" y="4214819"/>
            <a:ext cx="4357718" cy="22764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200" b="1" dirty="0" smtClean="0">
                <a:solidFill>
                  <a:srgbClr val="FFC000"/>
                </a:solidFill>
              </a:rPr>
              <a:t>“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Typeconversiondemo.py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000" dirty="0" smtClean="0"/>
              <a:t>x = int(2.8)</a:t>
            </a:r>
            <a:endParaRPr lang="en-US" sz="2000" dirty="0" smtClean="0"/>
          </a:p>
          <a:p>
            <a:r>
              <a:rPr lang="en-US" sz="2000" dirty="0" smtClean="0"/>
              <a:t>y = int("3")</a:t>
            </a:r>
            <a:endParaRPr lang="en-US" sz="2000" dirty="0" smtClean="0"/>
          </a:p>
          <a:p>
            <a:r>
              <a:rPr lang="en-US" sz="2000" dirty="0" smtClean="0"/>
              <a:t>z = float(2)</a:t>
            </a:r>
            <a:endParaRPr lang="en-US" sz="2000" dirty="0" smtClean="0"/>
          </a:p>
          <a:p>
            <a:r>
              <a:rPr lang="en-US" sz="2000" dirty="0" smtClean="0"/>
              <a:t>s = </a:t>
            </a:r>
            <a:r>
              <a:rPr lang="en-US" sz="2000" dirty="0" err="1" smtClean="0"/>
              <a:t>str</a:t>
            </a:r>
            <a:r>
              <a:rPr lang="en-US" sz="2000" dirty="0" smtClean="0"/>
              <a:t>(10)</a:t>
            </a:r>
            <a:endParaRPr lang="en-US" sz="2000" dirty="0" smtClean="0"/>
          </a:p>
          <a:p>
            <a:r>
              <a:rPr lang="en-US" sz="2000" dirty="0" smtClean="0"/>
              <a:t>print(</a:t>
            </a:r>
            <a:r>
              <a:rPr lang="en-IN" altLang="en-US" sz="2000" dirty="0" smtClean="0"/>
              <a:t>type(</a:t>
            </a:r>
            <a:r>
              <a:rPr lang="en-US" sz="2000" dirty="0" smtClean="0"/>
              <a:t>x</a:t>
            </a:r>
            <a:r>
              <a:rPr lang="en-IN" altLang="en-US" sz="2000" dirty="0" smtClean="0"/>
              <a:t>)</a:t>
            </a:r>
            <a:r>
              <a:rPr lang="en-US" sz="2000" dirty="0" smtClean="0"/>
              <a:t>);print(</a:t>
            </a:r>
            <a:r>
              <a:rPr lang="en-IN" altLang="en-US" sz="2000" dirty="0" smtClean="0"/>
              <a:t>type(</a:t>
            </a:r>
            <a:r>
              <a:rPr lang="en-US" sz="2000" dirty="0" smtClean="0"/>
              <a:t>y</a:t>
            </a:r>
            <a:r>
              <a:rPr lang="en-IN" altLang="en-US" sz="2000" dirty="0" smtClean="0"/>
              <a:t>)</a:t>
            </a:r>
            <a:r>
              <a:rPr lang="en-US" sz="2000" dirty="0" smtClean="0"/>
              <a:t>)</a:t>
            </a:r>
            <a:endParaRPr lang="en-US" sz="2000" dirty="0" smtClean="0"/>
          </a:p>
          <a:p>
            <a:r>
              <a:rPr lang="en-US" sz="2000" dirty="0" smtClean="0"/>
              <a:t>print(</a:t>
            </a:r>
            <a:r>
              <a:rPr lang="en-IN" altLang="en-US" sz="2000" dirty="0" smtClean="0"/>
              <a:t>type(</a:t>
            </a:r>
            <a:r>
              <a:rPr lang="en-US" sz="2000" dirty="0" smtClean="0"/>
              <a:t>z</a:t>
            </a:r>
            <a:r>
              <a:rPr lang="en-IN" altLang="en-US" sz="2000" dirty="0" smtClean="0"/>
              <a:t>)</a:t>
            </a:r>
            <a:r>
              <a:rPr lang="en-US" sz="2000" dirty="0" smtClean="0"/>
              <a:t>); print(</a:t>
            </a:r>
            <a:r>
              <a:rPr lang="en-IN" altLang="en-US" sz="2000" dirty="0" smtClean="0"/>
              <a:t>type(</a:t>
            </a:r>
            <a:r>
              <a:rPr lang="en-US" sz="2000" dirty="0" smtClean="0"/>
              <a:t>s</a:t>
            </a:r>
            <a:r>
              <a:rPr lang="en-IN" altLang="en-US" sz="2000" dirty="0" smtClean="0"/>
              <a:t>)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857750" y="4215130"/>
            <a:ext cx="4143375" cy="22644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000" b="1" dirty="0" smtClean="0"/>
              <a:t>python3 typeconversiondemo.py</a:t>
            </a:r>
            <a:endParaRPr lang="en-US" sz="2000" b="1" dirty="0" smtClean="0"/>
          </a:p>
          <a:p>
            <a:r>
              <a:rPr lang="en-IN" altLang="en-US" sz="2000" dirty="0" smtClean="0"/>
              <a:t>&lt;class ‘int’&gt;</a:t>
            </a:r>
            <a:endParaRPr lang="en-US" sz="2000" dirty="0" smtClean="0"/>
          </a:p>
          <a:p>
            <a:r>
              <a:rPr lang="en-IN" altLang="en-US" sz="2000" dirty="0" smtClean="0">
                <a:sym typeface="+mn-ea"/>
              </a:rPr>
              <a:t>&lt;class ‘str’&gt;</a:t>
            </a:r>
            <a:endParaRPr lang="en-US" sz="2000" dirty="0" smtClean="0"/>
          </a:p>
          <a:p>
            <a:r>
              <a:rPr lang="en-IN" altLang="en-US" sz="2000" dirty="0" smtClean="0">
                <a:sym typeface="+mn-ea"/>
              </a:rPr>
              <a:t>&lt;class ‘float’&gt;</a:t>
            </a:r>
            <a:endParaRPr lang="en-US" sz="2000" dirty="0" smtClean="0"/>
          </a:p>
          <a:p>
            <a:r>
              <a:rPr lang="en-IN" altLang="en-US" sz="2000" dirty="0" smtClean="0">
                <a:sym typeface="+mn-ea"/>
              </a:rPr>
              <a:t>&lt;class ‘str’&gt;</a:t>
            </a:r>
            <a:r>
              <a:rPr lang="en-US" sz="2000" dirty="0" smtClean="0"/>
              <a:t> </a:t>
            </a:r>
            <a:r>
              <a:rPr lang="en-US" sz="2400" b="1" dirty="0" smtClean="0"/>
              <a:t> 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Operators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72560" cy="535785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operator can be defined as a symbol which is responsible for a particular operation between two operands. </a:t>
            </a:r>
            <a:endParaRPr lang="en-US" sz="2400" dirty="0" smtClean="0"/>
          </a:p>
          <a:p>
            <a:r>
              <a:rPr lang="en-US" sz="2400" dirty="0" smtClean="0"/>
              <a:t>Python </a:t>
            </a:r>
            <a:r>
              <a:rPr lang="en-US" sz="2400" dirty="0" smtClean="0"/>
              <a:t>provides a variety of operators described as follows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buNone/>
            </a:pPr>
            <a:endParaRPr lang="en-US" sz="2400" b="1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867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8596" y="2571744"/>
            <a:ext cx="7715304" cy="27860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0A83C0"/>
                </a:solidFill>
              </a:rPr>
              <a:t>Arithmetic operators </a:t>
            </a:r>
            <a:r>
              <a:rPr lang="en-US" sz="2200" b="1" dirty="0" smtClean="0">
                <a:solidFill>
                  <a:srgbClr val="0A83C0"/>
                </a:solidFill>
              </a:rPr>
              <a:t>:</a:t>
            </a:r>
            <a:endParaRPr lang="en-US" sz="2200" b="1" dirty="0" smtClean="0"/>
          </a:p>
          <a:p>
            <a:r>
              <a:rPr lang="en-US" sz="2000" b="1" dirty="0" smtClean="0"/>
              <a:t>+</a:t>
            </a:r>
            <a:r>
              <a:rPr lang="en-US" sz="2000" dirty="0" smtClean="0"/>
              <a:t> </a:t>
            </a:r>
            <a:r>
              <a:rPr lang="en-US" sz="2000" dirty="0" smtClean="0"/>
              <a:t>(addition)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</a:t>
            </a:r>
            <a:r>
              <a:rPr lang="en-US" sz="2000" dirty="0" smtClean="0"/>
              <a:t>a </a:t>
            </a:r>
            <a:r>
              <a:rPr lang="en-US" sz="2000" b="1" dirty="0" smtClean="0"/>
              <a:t>+</a:t>
            </a:r>
            <a:r>
              <a:rPr lang="en-US" sz="2000" dirty="0" smtClean="0"/>
              <a:t> b=30</a:t>
            </a:r>
            <a:endParaRPr lang="en-US" sz="2000" dirty="0" smtClean="0"/>
          </a:p>
          <a:p>
            <a:r>
              <a:rPr lang="en-US" sz="2000" b="1" dirty="0" smtClean="0"/>
              <a:t>-</a:t>
            </a:r>
            <a:r>
              <a:rPr lang="en-US" sz="2000" dirty="0" smtClean="0"/>
              <a:t> (subtraction)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b="1" dirty="0" smtClean="0"/>
              <a:t> </a:t>
            </a:r>
            <a:r>
              <a:rPr lang="en-US" sz="2000" dirty="0" smtClean="0"/>
              <a:t>a=20; b=10 then </a:t>
            </a:r>
            <a:r>
              <a:rPr lang="en-US" sz="2000" dirty="0" smtClean="0"/>
              <a:t>a </a:t>
            </a:r>
            <a:r>
              <a:rPr lang="en-US" sz="2000" b="1" dirty="0" smtClean="0"/>
              <a:t>-</a:t>
            </a:r>
            <a:r>
              <a:rPr lang="en-US" sz="2000" dirty="0" smtClean="0"/>
              <a:t> b=10</a:t>
            </a:r>
            <a:endParaRPr lang="en-US" sz="2000" dirty="0" smtClean="0"/>
          </a:p>
          <a:p>
            <a:r>
              <a:rPr lang="en-US" sz="2000" b="1" dirty="0" smtClean="0"/>
              <a:t>*</a:t>
            </a:r>
            <a:r>
              <a:rPr lang="en-US" sz="2000" dirty="0" smtClean="0"/>
              <a:t>(multiplication)	</a:t>
            </a:r>
            <a:r>
              <a:rPr lang="en-US" sz="2000" dirty="0" smtClean="0"/>
              <a:t>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</a:t>
            </a:r>
            <a:r>
              <a:rPr lang="en-US" sz="2000" dirty="0" smtClean="0"/>
              <a:t>a </a:t>
            </a:r>
            <a:r>
              <a:rPr lang="en-US" sz="2000" b="1" dirty="0" smtClean="0"/>
              <a:t>*</a:t>
            </a:r>
            <a:r>
              <a:rPr lang="en-US" sz="2000" dirty="0" smtClean="0"/>
              <a:t> b=200</a:t>
            </a:r>
            <a:endParaRPr lang="en-US" sz="2000" dirty="0" smtClean="0"/>
          </a:p>
          <a:p>
            <a:r>
              <a:rPr lang="en-US" sz="2000" b="1" dirty="0" smtClean="0"/>
              <a:t>/</a:t>
            </a:r>
            <a:r>
              <a:rPr lang="en-US" sz="2000" dirty="0" smtClean="0"/>
              <a:t> (divide)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</a:t>
            </a:r>
            <a:r>
              <a:rPr lang="en-US" sz="2000" dirty="0" smtClean="0"/>
              <a:t>a </a:t>
            </a:r>
            <a:r>
              <a:rPr lang="en-US" sz="2000" b="1" dirty="0" smtClean="0"/>
              <a:t>/</a:t>
            </a:r>
            <a:r>
              <a:rPr lang="en-US" sz="2000" dirty="0" smtClean="0"/>
              <a:t> b=2</a:t>
            </a:r>
            <a:endParaRPr lang="en-US" sz="2000" dirty="0" smtClean="0"/>
          </a:p>
          <a:p>
            <a:r>
              <a:rPr lang="en-US" sz="2000" b="1" dirty="0" smtClean="0"/>
              <a:t>%</a:t>
            </a:r>
            <a:r>
              <a:rPr lang="en-US" sz="2000" dirty="0" smtClean="0"/>
              <a:t>( reminder)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</a:t>
            </a:r>
            <a:r>
              <a:rPr lang="en-US" sz="2000" dirty="0" smtClean="0"/>
              <a:t>a </a:t>
            </a:r>
            <a:r>
              <a:rPr lang="en-US" sz="2000" b="1" dirty="0" smtClean="0"/>
              <a:t>%</a:t>
            </a:r>
            <a:r>
              <a:rPr lang="en-US" sz="2000" dirty="0" smtClean="0"/>
              <a:t> b=0</a:t>
            </a:r>
            <a:endParaRPr lang="en-US" sz="2000" dirty="0" smtClean="0"/>
          </a:p>
          <a:p>
            <a:r>
              <a:rPr lang="en-US" sz="2000" b="1" dirty="0" smtClean="0"/>
              <a:t>//</a:t>
            </a:r>
            <a:r>
              <a:rPr lang="en-US" sz="2000" dirty="0" smtClean="0"/>
              <a:t> (floor division)	</a:t>
            </a:r>
            <a:r>
              <a:rPr lang="en-US" sz="2000" dirty="0" smtClean="0"/>
              <a:t>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a=24; b=7 then </a:t>
            </a:r>
            <a:r>
              <a:rPr lang="en-US" sz="2000" dirty="0" smtClean="0"/>
              <a:t>a </a:t>
            </a:r>
            <a:r>
              <a:rPr lang="en-US" sz="2000" b="1" dirty="0" smtClean="0"/>
              <a:t>//</a:t>
            </a:r>
            <a:r>
              <a:rPr lang="en-US" sz="2000" dirty="0" smtClean="0"/>
              <a:t> b=3</a:t>
            </a:r>
            <a:endParaRPr lang="en-US" sz="2000" dirty="0" smtClean="0"/>
          </a:p>
          <a:p>
            <a:r>
              <a:rPr lang="en-US" sz="2000" b="1" dirty="0" smtClean="0"/>
              <a:t>**</a:t>
            </a:r>
            <a:r>
              <a:rPr lang="en-US" sz="2000" dirty="0" smtClean="0"/>
              <a:t> (exponent)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a=2; b=3 then </a:t>
            </a:r>
            <a:r>
              <a:rPr lang="en-US" sz="2000" dirty="0" smtClean="0"/>
              <a:t>a </a:t>
            </a:r>
            <a:r>
              <a:rPr lang="en-US" sz="2000" b="1" dirty="0" smtClean="0"/>
              <a:t>**</a:t>
            </a:r>
            <a:r>
              <a:rPr lang="en-US" sz="2000" dirty="0" smtClean="0"/>
              <a:t> b=8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28596" y="5429264"/>
            <a:ext cx="7715304" cy="10464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A83C0"/>
                </a:solidFill>
              </a:rPr>
              <a:t>Membership </a:t>
            </a:r>
            <a:r>
              <a:rPr lang="en-US" sz="2200" b="1" dirty="0" smtClean="0">
                <a:solidFill>
                  <a:srgbClr val="0A83C0"/>
                </a:solidFill>
              </a:rPr>
              <a:t>operators </a:t>
            </a:r>
            <a:r>
              <a:rPr lang="en-US" sz="2200" b="1" dirty="0" smtClean="0">
                <a:solidFill>
                  <a:srgbClr val="0A83C0"/>
                </a:solidFill>
              </a:rPr>
              <a:t>:</a:t>
            </a:r>
            <a:endParaRPr lang="en-US" sz="2200" b="1" dirty="0" smtClean="0"/>
          </a:p>
          <a:p>
            <a:r>
              <a:rPr lang="en-US" sz="2000" b="1" dirty="0" smtClean="0"/>
              <a:t>in</a:t>
            </a:r>
            <a:r>
              <a:rPr lang="en-US" sz="2000" dirty="0" smtClean="0"/>
              <a:t> (True, If </a:t>
            </a:r>
            <a:r>
              <a:rPr lang="en-US" sz="2000" dirty="0" smtClean="0"/>
              <a:t>the value is present in the data structure</a:t>
            </a:r>
            <a:r>
              <a:rPr lang="en-US" sz="2000" dirty="0" smtClean="0"/>
              <a:t>)</a:t>
            </a:r>
            <a:endParaRPr lang="en-US" sz="2000" dirty="0" smtClean="0"/>
          </a:p>
          <a:p>
            <a:r>
              <a:rPr lang="en-US" sz="2000" b="1" dirty="0" smtClean="0"/>
              <a:t>not in</a:t>
            </a:r>
            <a:r>
              <a:rPr lang="en-US" sz="2000" dirty="0" smtClean="0"/>
              <a:t> </a:t>
            </a:r>
            <a:r>
              <a:rPr lang="en-US" sz="2000" dirty="0" smtClean="0"/>
              <a:t> (True, If </a:t>
            </a:r>
            <a:r>
              <a:rPr lang="en-US" sz="2000" dirty="0" smtClean="0"/>
              <a:t>the value is </a:t>
            </a:r>
            <a:r>
              <a:rPr lang="en-US" sz="2000" dirty="0" smtClean="0"/>
              <a:t>not present </a:t>
            </a:r>
            <a:r>
              <a:rPr lang="en-US" sz="2000" dirty="0" smtClean="0"/>
              <a:t>in the data structure</a:t>
            </a:r>
            <a:r>
              <a:rPr lang="en-US" sz="2000" dirty="0" smtClean="0"/>
              <a:t>)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  </a:t>
            </a:r>
            <a:r>
              <a:rPr lang="en-IN" altLang="en-US" sz="3600" b="1" dirty="0" smtClean="0">
                <a:solidFill>
                  <a:srgbClr val="E9B115"/>
                </a:solidFill>
              </a:rPr>
              <a:t>print()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IN" altLang="en-US" sz="3600" b="1" dirty="0" smtClean="0"/>
              <a:t>and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IN" altLang="en-US" sz="3600" b="1" dirty="0" smtClean="0">
                <a:solidFill>
                  <a:srgbClr val="0A83C0"/>
                </a:solidFill>
              </a:rPr>
              <a:t>input()</a:t>
            </a:r>
            <a:r>
              <a:rPr lang="en-US" sz="3600" b="1" dirty="0" smtClean="0">
                <a:solidFill>
                  <a:srgbClr val="0A83C0"/>
                </a:solidFill>
              </a:rPr>
              <a:t>            </a:t>
            </a:r>
            <a:r>
              <a:rPr lang="en-US" sz="1800" b="1" dirty="0" smtClean="0"/>
              <a:t>Cont…</a:t>
            </a:r>
            <a:endParaRPr lang="en-US" sz="1800" b="1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867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7210" y="1254760"/>
            <a:ext cx="8221980" cy="49599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IN" altLang="en-US" sz="2800" b="1" dirty="0" smtClean="0">
                <a:sym typeface="+mn-ea"/>
              </a:rPr>
              <a:t>1.print()</a:t>
            </a:r>
            <a:r>
              <a:rPr lang="en-US" sz="2800" b="1" dirty="0" smtClean="0">
                <a:sym typeface="+mn-ea"/>
              </a:rPr>
              <a:t> </a:t>
            </a:r>
            <a:endParaRPr lang="en-IN" altLang="en-US" sz="2800" b="1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en-GB" sz="2800" dirty="0" smtClean="0">
                <a:sym typeface="+mn-ea"/>
              </a:rPr>
              <a:t>Used to display output on the screen.</a:t>
            </a:r>
            <a:endParaRPr lang="en-US" altLang="en-GB" sz="2800" dirty="0" smtClean="0">
              <a:solidFill>
                <a:schemeClr val="tx1"/>
              </a:solidFill>
              <a:sym typeface="+mn-ea"/>
            </a:endParaRPr>
          </a:p>
          <a:p>
            <a:endParaRPr lang="en-US" altLang="en-GB" sz="2800" dirty="0" smtClean="0">
              <a:solidFill>
                <a:schemeClr val="tx1"/>
              </a:solidFill>
              <a:sym typeface="+mn-ea"/>
            </a:endParaRPr>
          </a:p>
          <a:p>
            <a:r>
              <a:rPr lang="en-IN" altLang="en-US" sz="2800" dirty="0" smtClean="0">
                <a:solidFill>
                  <a:srgbClr val="FF0000"/>
                </a:solidFill>
                <a:sym typeface="+mn-ea"/>
              </a:rPr>
              <a:t>Example:</a:t>
            </a:r>
            <a:endParaRPr lang="en-IN" altLang="en-US" sz="2800" dirty="0" smtClean="0">
              <a:solidFill>
                <a:srgbClr val="FF0000"/>
              </a:solidFill>
              <a:sym typeface="+mn-ea"/>
            </a:endParaRPr>
          </a:p>
          <a:p>
            <a:r>
              <a:rPr lang="en-IN" altLang="en-US" sz="2800" dirty="0" smtClean="0">
                <a:solidFill>
                  <a:schemeClr val="tx1"/>
                </a:solidFill>
                <a:sym typeface="+mn-ea"/>
              </a:rPr>
              <a:t> </a:t>
            </a:r>
            <a:endParaRPr lang="en-IN" altLang="en-US" sz="28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20090" y="3285490"/>
            <a:ext cx="3729990" cy="163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200" b="1" dirty="0" smtClean="0">
                <a:solidFill>
                  <a:srgbClr val="FFC000"/>
                </a:solidFill>
              </a:rPr>
              <a:t>“</a:t>
            </a:r>
            <a:r>
              <a:rPr lang="en-IN" altLang="en-US" sz="2200" b="1" dirty="0" smtClean="0">
                <a:solidFill>
                  <a:srgbClr val="FFC000"/>
                </a:solidFill>
              </a:rPr>
              <a:t>print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altLang="en-GB" sz="2000" dirty="0"/>
              <a:t>a=10</a:t>
            </a:r>
            <a:endParaRPr lang="en-US" altLang="en-GB" sz="2000" dirty="0"/>
          </a:p>
          <a:p>
            <a:r>
              <a:rPr lang="en-US" altLang="en-GB" sz="2000" dirty="0"/>
              <a:t>Print(“Hello”)</a:t>
            </a:r>
            <a:endParaRPr lang="en-US" altLang="en-GB" sz="2000" dirty="0"/>
          </a:p>
          <a:p>
            <a:r>
              <a:rPr lang="en-US" altLang="en-GB" sz="2000" dirty="0"/>
              <a:t>print(“Value of a is”,a)</a:t>
            </a:r>
            <a:endParaRPr lang="en-US" altLang="en-GB" sz="2000" dirty="0"/>
          </a:p>
          <a:p>
            <a:endParaRPr lang="en-US" altLang="en-GB" sz="2000" dirty="0"/>
          </a:p>
          <a:p>
            <a:endParaRPr lang="en-US" altLang="en-GB" sz="2000" dirty="0"/>
          </a:p>
        </p:txBody>
      </p:sp>
      <p:sp>
        <p:nvSpPr>
          <p:cNvPr id="9" name="TextBox 4"/>
          <p:cNvSpPr txBox="1"/>
          <p:nvPr/>
        </p:nvSpPr>
        <p:spPr>
          <a:xfrm>
            <a:off x="4787900" y="3285490"/>
            <a:ext cx="3729990" cy="163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IN" alt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Output</a:t>
            </a: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r>
              <a:rPr lang="en-IN" alt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200" b="1" dirty="0" smtClean="0">
                <a:solidFill>
                  <a:srgbClr val="FFC000"/>
                </a:solidFill>
              </a:rPr>
              <a:t>“</a:t>
            </a:r>
            <a:r>
              <a:rPr lang="en-IN" altLang="en-US" sz="2200" b="1" dirty="0" smtClean="0">
                <a:solidFill>
                  <a:srgbClr val="FFC000"/>
                </a:solidFill>
              </a:rPr>
              <a:t>print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altLang="en-GB" sz="2000" dirty="0"/>
              <a:t>a=10</a:t>
            </a:r>
            <a:endParaRPr lang="en-US" altLang="en-GB" sz="2000" dirty="0"/>
          </a:p>
          <a:p>
            <a:r>
              <a:rPr lang="en-US" altLang="en-GB" sz="2000" dirty="0"/>
              <a:t>Print(“Hello”)</a:t>
            </a:r>
            <a:endParaRPr lang="en-US" altLang="en-GB" sz="2000" dirty="0"/>
          </a:p>
          <a:p>
            <a:r>
              <a:rPr lang="en-US" altLang="en-GB" sz="2000" dirty="0"/>
              <a:t>print(“Value of a is”,a)</a:t>
            </a:r>
            <a:endParaRPr lang="en-US" altLang="en-GB" sz="2000" dirty="0"/>
          </a:p>
          <a:p>
            <a:endParaRPr lang="en-US" altLang="en-GB" sz="2000" dirty="0"/>
          </a:p>
          <a:p>
            <a:endParaRPr lang="en-US" alt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  </a:t>
            </a:r>
            <a:r>
              <a:rPr lang="en-IN" altLang="en-US" sz="3600" b="1" dirty="0" smtClean="0">
                <a:solidFill>
                  <a:srgbClr val="E9B115"/>
                </a:solidFill>
              </a:rPr>
              <a:t>print()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IN" altLang="en-US" sz="3600" b="1" dirty="0" smtClean="0"/>
              <a:t>and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IN" altLang="en-US" sz="3600" b="1" dirty="0" smtClean="0">
                <a:solidFill>
                  <a:srgbClr val="0A83C0"/>
                </a:solidFill>
              </a:rPr>
              <a:t>input()</a:t>
            </a:r>
            <a:r>
              <a:rPr lang="en-US" sz="3600" b="1" dirty="0" smtClean="0">
                <a:solidFill>
                  <a:srgbClr val="0A83C0"/>
                </a:solidFill>
              </a:rPr>
              <a:t>            </a:t>
            </a:r>
            <a:r>
              <a:rPr lang="en-US" sz="1800" b="1" dirty="0" smtClean="0"/>
              <a:t>Cont…</a:t>
            </a:r>
            <a:endParaRPr lang="en-US" sz="1800" b="1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867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6240" y="1269365"/>
            <a:ext cx="8329930" cy="484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IN" altLang="en-US" sz="28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  <a:sym typeface="+mn-ea"/>
              </a:rPr>
              <a:t>2. input() :</a:t>
            </a:r>
            <a:endParaRPr lang="en-IN" altLang="en-US" sz="2800" b="1" dirty="0" smtClean="0">
              <a:solidFill>
                <a:schemeClr val="tx1"/>
              </a:solidFill>
              <a:latin typeface="+mj-lt"/>
              <a:ea typeface="+mj-ea"/>
              <a:cs typeface="+mj-cs"/>
              <a:sym typeface="+mn-ea"/>
            </a:endParaRPr>
          </a:p>
          <a:p>
            <a:r>
              <a:rPr lang="en-US" altLang="en-GB" sz="2800" dirty="0"/>
              <a:t>Python's input() function is used to take user input. By default, it returns the user input in form of a </a:t>
            </a:r>
            <a:r>
              <a:rPr lang="en-US" altLang="en-GB" sz="2800" dirty="0">
                <a:solidFill>
                  <a:srgbClr val="FF0000"/>
                </a:solidFill>
              </a:rPr>
              <a:t>string</a:t>
            </a:r>
            <a:r>
              <a:rPr lang="en-US" altLang="en-GB" sz="2800" dirty="0"/>
              <a:t>. </a:t>
            </a:r>
            <a:endParaRPr lang="en-US" altLang="en-GB" sz="2800" dirty="0"/>
          </a:p>
          <a:p>
            <a:endParaRPr lang="en-US" altLang="en-GB" sz="2800" dirty="0"/>
          </a:p>
          <a:p>
            <a:r>
              <a:rPr lang="en-IN" altLang="en-US" sz="2800" dirty="0">
                <a:solidFill>
                  <a:srgbClr val="FF0000"/>
                </a:solidFill>
              </a:rPr>
              <a:t>Example:</a:t>
            </a:r>
            <a:endParaRPr lang="en-IN" altLang="en-US" sz="2800" dirty="0">
              <a:solidFill>
                <a:srgbClr val="FF0000"/>
              </a:solidFill>
            </a:endParaRPr>
          </a:p>
          <a:p>
            <a:endParaRPr lang="en-I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611505" y="3645535"/>
            <a:ext cx="3729990" cy="163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200" b="1" dirty="0" smtClean="0">
                <a:solidFill>
                  <a:srgbClr val="FFC000"/>
                </a:solidFill>
              </a:rPr>
              <a:t>“</a:t>
            </a:r>
            <a:r>
              <a:rPr lang="en-IN" altLang="en-US" sz="2200" b="1" dirty="0" smtClean="0">
                <a:solidFill>
                  <a:srgbClr val="FFC000"/>
                </a:solidFill>
              </a:rPr>
              <a:t>print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altLang="en-GB" sz="2000" dirty="0"/>
              <a:t>a=</a:t>
            </a:r>
            <a:r>
              <a:rPr lang="en-IN" altLang="en-US" sz="2000" dirty="0">
                <a:solidFill>
                  <a:srgbClr val="FF0000"/>
                </a:solidFill>
              </a:rPr>
              <a:t>int</a:t>
            </a:r>
            <a:r>
              <a:rPr lang="en-IN" altLang="en-US" sz="2000" dirty="0"/>
              <a:t>(</a:t>
            </a:r>
            <a:r>
              <a:rPr lang="en-IN" altLang="en-US" sz="2000" dirty="0">
                <a:solidFill>
                  <a:schemeClr val="accent2"/>
                </a:solidFill>
              </a:rPr>
              <a:t>input</a:t>
            </a:r>
            <a:r>
              <a:rPr lang="en-IN" altLang="en-US" sz="2000" dirty="0"/>
              <a:t>(“Enter No”))</a:t>
            </a:r>
            <a:endParaRPr lang="en-US" altLang="en-GB" sz="2000" dirty="0"/>
          </a:p>
          <a:p>
            <a:r>
              <a:rPr lang="en-IN" altLang="en-US" sz="2000" dirty="0">
                <a:solidFill>
                  <a:schemeClr val="accent2"/>
                </a:solidFill>
              </a:rPr>
              <a:t>p</a:t>
            </a:r>
            <a:r>
              <a:rPr lang="en-US" altLang="en-GB" sz="2000" dirty="0">
                <a:solidFill>
                  <a:schemeClr val="accent2"/>
                </a:solidFill>
              </a:rPr>
              <a:t>rint</a:t>
            </a:r>
            <a:r>
              <a:rPr lang="en-US" altLang="en-GB" sz="2000" dirty="0"/>
              <a:t>(“Hello”)</a:t>
            </a:r>
            <a:endParaRPr lang="en-US" altLang="en-GB" sz="2000" dirty="0"/>
          </a:p>
          <a:p>
            <a:r>
              <a:rPr lang="en-US" altLang="en-GB" sz="2000" dirty="0">
                <a:solidFill>
                  <a:schemeClr val="accent2"/>
                </a:solidFill>
              </a:rPr>
              <a:t>print</a:t>
            </a:r>
            <a:r>
              <a:rPr lang="en-US" altLang="en-GB" sz="2000" dirty="0"/>
              <a:t>(“Value of a is</a:t>
            </a:r>
            <a:r>
              <a:rPr lang="en-IN" altLang="en-US" sz="2000" dirty="0"/>
              <a:t> </a:t>
            </a:r>
            <a:r>
              <a:rPr lang="en-US" altLang="en-GB" sz="2000" dirty="0"/>
              <a:t>”,a)</a:t>
            </a:r>
            <a:endParaRPr lang="en-US" altLang="en-GB" sz="2000" dirty="0"/>
          </a:p>
          <a:p>
            <a:endParaRPr lang="en-US" altLang="en-GB" sz="2000" dirty="0"/>
          </a:p>
          <a:p>
            <a:endParaRPr lang="en-US" altLang="en-GB" sz="2000" dirty="0"/>
          </a:p>
        </p:txBody>
      </p:sp>
      <p:sp>
        <p:nvSpPr>
          <p:cNvPr id="9" name="TextBox 4"/>
          <p:cNvSpPr txBox="1"/>
          <p:nvPr/>
        </p:nvSpPr>
        <p:spPr>
          <a:xfrm>
            <a:off x="4572000" y="3645535"/>
            <a:ext cx="3729990" cy="163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IN" alt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Output</a:t>
            </a: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r>
              <a:rPr lang="en-IN" alt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200" b="1" dirty="0" smtClean="0">
                <a:solidFill>
                  <a:srgbClr val="FFC000"/>
                </a:solidFill>
              </a:rPr>
              <a:t>“</a:t>
            </a:r>
            <a:r>
              <a:rPr lang="en-IN" altLang="en-US" sz="2200" b="1" dirty="0" smtClean="0">
                <a:solidFill>
                  <a:srgbClr val="FFC000"/>
                </a:solidFill>
              </a:rPr>
              <a:t>print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IN" altLang="en-US" sz="2000" dirty="0"/>
              <a:t>10</a:t>
            </a:r>
            <a:endParaRPr lang="en-IN" altLang="en-US" sz="2000" dirty="0"/>
          </a:p>
          <a:p>
            <a:r>
              <a:rPr lang="en-IN" altLang="en-US" sz="2000" dirty="0"/>
              <a:t>Hello</a:t>
            </a:r>
            <a:endParaRPr lang="en-IN" altLang="en-US" sz="2000" dirty="0"/>
          </a:p>
          <a:p>
            <a:r>
              <a:rPr lang="en-IN" altLang="en-US" sz="2000" dirty="0"/>
              <a:t>Value of a is 10</a:t>
            </a:r>
            <a:endParaRPr lang="en-I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6533</Words>
  <Application>WPS Presentation</Application>
  <PresentationFormat>On-screen Show (4:3)</PresentationFormat>
  <Paragraphs>289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Python Basics</vt:lpstr>
      <vt:lpstr>Content</vt:lpstr>
      <vt:lpstr>Comments in Python</vt:lpstr>
      <vt:lpstr>                  Comments in Python                        Cont..</vt:lpstr>
      <vt:lpstr>Variable Declaration in Python </vt:lpstr>
      <vt:lpstr>          Variable Declaration in Python          Cont.. </vt:lpstr>
      <vt:lpstr>          Variable Declaration in Python          Cont.. </vt:lpstr>
      <vt:lpstr>	Data Types in Python</vt:lpstr>
      <vt:lpstr>	       Data Types in Python            Cont..</vt:lpstr>
      <vt:lpstr>                 Data Types in Python            Cont..</vt:lpstr>
      <vt:lpstr>                 Data Types in Python            Cont..</vt:lpstr>
      <vt:lpstr>                 Data Types in Python            Cont..</vt:lpstr>
      <vt:lpstr>Type Conversion in Python</vt:lpstr>
      <vt:lpstr>Operators in Python</vt:lpstr>
      <vt:lpstr>                   print() and input()            Cont…</vt:lpstr>
      <vt:lpstr>                   print() and input()            Cont…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Python!</dc:title>
  <dc:creator>Exam</dc:creator>
  <cp:lastModifiedBy>bhaskar</cp:lastModifiedBy>
  <cp:revision>114</cp:revision>
  <dcterms:created xsi:type="dcterms:W3CDTF">2020-06-10T05:05:00Z</dcterms:created>
  <dcterms:modified xsi:type="dcterms:W3CDTF">2026-01-23T11:28:52Z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5DE698E21781471B911C793827B3A2E7_12</vt:lpwstr>
  </property>
  <property fmtid="{D5CDD505-2E9C-101B-9397-08002B2CF9AE}" pid="3" name="KSOProductBuildVer">
    <vt:lpwstr>2057-12.2.0.23196</vt:lpwstr>
  </property>
</Properties>
</file>